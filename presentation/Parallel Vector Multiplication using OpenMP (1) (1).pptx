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D4ED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PARALLEL COMPUTING LABORATORY PROJECT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14120"/>
            <a:ext cx="10883392" cy="1305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Vector Multiplication using OpenMP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264668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445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Sequential vs Shared-Memory Parallel Execution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319024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4530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C[i] = A[i] × B[i]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15975" y="4189095"/>
            <a:ext cx="2520950" cy="1197610"/>
          </a:xfrm>
          <a:prstGeom prst="roundRect">
            <a:avLst>
              <a:gd name="adj" fmla="val 8218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6480" y="4419600"/>
            <a:ext cx="21217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Shrikar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46480" y="4889500"/>
            <a:ext cx="212173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4557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01FE24BCI013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95675" y="4189095"/>
            <a:ext cx="2520950" cy="1197610"/>
          </a:xfrm>
          <a:prstGeom prst="roundRect">
            <a:avLst>
              <a:gd name="adj" fmla="val 8218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6180" y="4419600"/>
            <a:ext cx="21217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Shreya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26180" y="4889500"/>
            <a:ext cx="212173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4557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01FE24BCI033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75375" y="4189095"/>
            <a:ext cx="2520950" cy="1197610"/>
          </a:xfrm>
          <a:prstGeom prst="roundRect">
            <a:avLst>
              <a:gd name="adj" fmla="val 8218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5880" y="4419600"/>
            <a:ext cx="21217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Sai Shree Ram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5880" y="4889500"/>
            <a:ext cx="212173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4557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01FE24BCI034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855075" y="4189095"/>
            <a:ext cx="2520950" cy="1197610"/>
          </a:xfrm>
          <a:prstGeom prst="roundRect">
            <a:avLst>
              <a:gd name="adj" fmla="val 8218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85580" y="4419600"/>
            <a:ext cx="21217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Ankush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085580" y="4889500"/>
            <a:ext cx="212173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4557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01FE24BCI096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800" y="559308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45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Definition → Sequential → Parallel Design → Implementation → Runs → Results → Graphs → Analysis → Demo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Definition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5"/>
            <a:ext cx="4746704" cy="4321810"/>
          </a:xfrm>
          <a:prstGeom prst="roundRect">
            <a:avLst>
              <a:gd name="adj" fmla="val 2277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747520"/>
            <a:ext cx="4414265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89152" y="2151380"/>
            <a:ext cx="4363973" cy="2727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1328" indent="-211328">
              <a:lnSpc>
                <a:spcPts val="3040"/>
              </a:lnSpc>
              <a:buSzPct val="100000"/>
              <a:buChar char="•"/>
            </a:pPr>
            <a:r>
              <a:rPr lang="en-US" sz="19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Element-wise multiplication of two vectors</a:t>
            </a:r>
            <a:endParaRPr lang="en-US" sz="1900" dirty="0"/>
          </a:p>
          <a:p>
            <a:pPr algn="l" marL="211328" indent="-211328">
              <a:lnSpc>
                <a:spcPts val="3040"/>
              </a:lnSpc>
              <a:buSzPct val="100000"/>
              <a:buChar char="•"/>
            </a:pPr>
            <a:r>
              <a:rPr lang="en-US" sz="19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Sequential: one element at a time</a:t>
            </a:r>
            <a:endParaRPr lang="en-US" sz="1900" dirty="0"/>
          </a:p>
          <a:p>
            <a:pPr algn="l" marL="211328" indent="-211328">
              <a:lnSpc>
                <a:spcPts val="3040"/>
              </a:lnSpc>
              <a:buSzPct val="100000"/>
              <a:buChar char="•"/>
            </a:pPr>
            <a:r>
              <a:rPr lang="en-US" sz="19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multiplication is independent</a:t>
            </a:r>
            <a:endParaRPr lang="en-US" sz="1900" dirty="0"/>
          </a:p>
          <a:p>
            <a:pPr algn="l" marL="211328" indent="-211328">
              <a:lnSpc>
                <a:spcPts val="3040"/>
              </a:lnSpc>
              <a:buSzPct val="100000"/>
              <a:buChar char="•"/>
            </a:pPr>
            <a:r>
              <a:rPr lang="en-US" sz="19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Hence suitable for parallelization</a:t>
            </a:r>
            <a:endParaRPr lang="en-US" sz="1900" dirty="0"/>
          </a:p>
          <a:p>
            <a:pPr algn="l" marL="211328" indent="-211328">
              <a:lnSpc>
                <a:spcPts val="3040"/>
              </a:lnSpc>
              <a:buSzPct val="100000"/>
              <a:buChar char="•"/>
            </a:pPr>
            <a:r>
              <a:rPr lang="en-US" sz="19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 compare sequential vs OpenMP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772229" y="1517015"/>
            <a:ext cx="5603796" cy="4321810"/>
          </a:xfrm>
          <a:prstGeom prst="roundRect">
            <a:avLst>
              <a:gd name="adj" fmla="val 2277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02734" y="1977390"/>
            <a:ext cx="5297069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A × Vector B → Vector C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009084" y="2847340"/>
            <a:ext cx="1327626" cy="701040"/>
          </a:xfrm>
          <a:prstGeom prst="roundRect">
            <a:avLst>
              <a:gd name="adj" fmla="val 13587"/>
            </a:avLst>
          </a:prstGeom>
          <a:solidFill>
            <a:srgbClr val="E3EBFB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77512" tIns="141012" rIns="77512" bIns="141012" rtlCol="0" anchor="ctr">
            <a:normAutofit/>
          </a:bodyPr>
          <a:lstStyle/>
          <a:p>
            <a:pPr algn="ctr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470061" y="2948940"/>
            <a:ext cx="36823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910275" y="2847340"/>
            <a:ext cx="1327706" cy="701040"/>
          </a:xfrm>
          <a:prstGeom prst="roundRect">
            <a:avLst>
              <a:gd name="adj" fmla="val 13587"/>
            </a:avLst>
          </a:prstGeom>
          <a:solidFill>
            <a:srgbClr val="E3EBFB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77512" tIns="141012" rIns="77512" bIns="141012" rtlCol="0" anchor="ctr">
            <a:normAutofit/>
          </a:bodyPr>
          <a:lstStyle/>
          <a:p>
            <a:pPr algn="ctr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B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371330" y="2948940"/>
            <a:ext cx="36823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811544" y="2847340"/>
            <a:ext cx="1327626" cy="701040"/>
          </a:xfrm>
          <a:prstGeom prst="roundRect">
            <a:avLst>
              <a:gd name="adj" fmla="val 13587"/>
            </a:avLst>
          </a:prstGeom>
          <a:solidFill>
            <a:srgbClr val="E3EBFB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77512" tIns="141012" rIns="77512" bIns="141012" rtlCol="0" anchor="ctr">
            <a:normAutofit/>
          </a:bodyPr>
          <a:lstStyle/>
          <a:p>
            <a:pPr algn="ctr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C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002734" y="4128770"/>
            <a:ext cx="529706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4530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C[i] = A[i] × B[i]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002734" y="5129530"/>
            <a:ext cx="537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4557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 a0 a1 a2 … ] × [ b0 b1 b2 … ] → [ c0 c1 c2 … 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20461"/>
            <a:ext cx="94837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Takeaway: independent element products make this problem parallel-friendly.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66400" y="6220461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2/12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Sequential Algorithm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6"/>
            <a:ext cx="5408930" cy="4321810"/>
          </a:xfrm>
          <a:prstGeom prst="roundRect">
            <a:avLst>
              <a:gd name="adj" fmla="val 2277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747520"/>
            <a:ext cx="5096358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99331" y="2151380"/>
            <a:ext cx="513588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1149" indent="-301149">
              <a:lnSpc>
                <a:spcPts val="3200"/>
              </a:lnSpc>
              <a:buSzPct val="100000"/>
              <a:buFontTx/>
              <a:buAutoNum type="arabicPeriod" startAt="1"/>
            </a:pPr>
            <a:r>
              <a:rPr lang="en-US" sz="20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vectors A, B and C</a:t>
            </a:r>
            <a:endParaRPr lang="en-US" sz="2000" dirty="0"/>
          </a:p>
          <a:p>
            <a:pPr algn="l" marL="301149" indent="-301149">
              <a:lnSpc>
                <a:spcPts val="3200"/>
              </a:lnSpc>
              <a:buSzPct val="100000"/>
              <a:buFontTx/>
              <a:buAutoNum type="arabicPeriod" startAt="1"/>
            </a:pPr>
            <a:r>
              <a:rPr lang="en-US" sz="20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Initialize A and B</a:t>
            </a:r>
            <a:endParaRPr lang="en-US" sz="2000" dirty="0"/>
          </a:p>
          <a:p>
            <a:pPr algn="l" marL="301149" indent="-301149">
              <a:lnSpc>
                <a:spcPts val="3200"/>
              </a:lnSpc>
              <a:buSzPct val="100000"/>
              <a:buFontTx/>
              <a:buAutoNum type="arabicPeriod" startAt="1"/>
            </a:pPr>
            <a:r>
              <a:rPr lang="en-US" sz="20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Iterate i = 0 to N−1</a:t>
            </a:r>
            <a:endParaRPr lang="en-US" sz="2000" dirty="0"/>
          </a:p>
          <a:p>
            <a:pPr algn="l" marL="301149" indent="-301149">
              <a:lnSpc>
                <a:spcPts val="3200"/>
              </a:lnSpc>
              <a:buSzPct val="100000"/>
              <a:buFontTx/>
              <a:buAutoNum type="arabicPeriod" startAt="1"/>
            </a:pPr>
            <a:r>
              <a:rPr lang="en-US" sz="20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C[i] = A[i] × B[i]</a:t>
            </a:r>
            <a:endParaRPr lang="en-US" sz="2000" dirty="0"/>
          </a:p>
          <a:p>
            <a:pPr algn="l" marL="301149" indent="-301149">
              <a:lnSpc>
                <a:spcPts val="3200"/>
              </a:lnSpc>
              <a:buSzPct val="100000"/>
              <a:buFontTx/>
              <a:buAutoNum type="arabicPeriod" startAt="1"/>
            </a:pPr>
            <a:r>
              <a:rPr lang="en-US" sz="20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execution time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34455" y="1517016"/>
            <a:ext cx="4941570" cy="2967990"/>
          </a:xfrm>
          <a:prstGeom prst="roundRect">
            <a:avLst>
              <a:gd name="adj" fmla="val 2460"/>
            </a:avLst>
          </a:prstGeom>
          <a:solidFill>
            <a:srgbClr val="E9EFF9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39560" y="2211070"/>
            <a:ext cx="46673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Pseudocode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39560" y="2518411"/>
            <a:ext cx="4667301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0B3B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i = 0 to N-1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639560" y="2967991"/>
            <a:ext cx="4667301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0B3B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C[i] = A[i] × B[i]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639560" y="3417570"/>
            <a:ext cx="4667301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0B3B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END FOR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434455" y="4694555"/>
            <a:ext cx="4941570" cy="114427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64960" y="4925061"/>
            <a:ext cx="46149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45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64960" y="5288280"/>
            <a:ext cx="4614977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4530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src/vector_sequential.cpp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2800" y="6220461"/>
            <a:ext cx="94837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Takeaway: a single loop over N elements is the baseline for all comparisons.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66400" y="6220461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3/12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Design using OpenMP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6"/>
            <a:ext cx="3380264" cy="1469390"/>
          </a:xfrm>
          <a:prstGeom prst="roundRect">
            <a:avLst>
              <a:gd name="adj" fmla="val 6698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747520"/>
            <a:ext cx="30068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46480" y="2151380"/>
            <a:ext cx="3006831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iteration is independent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05789" y="1517016"/>
            <a:ext cx="3380343" cy="1469390"/>
          </a:xfrm>
          <a:prstGeom prst="roundRect">
            <a:avLst>
              <a:gd name="adj" fmla="val 6698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6294" y="1747520"/>
            <a:ext cx="3006913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636294" y="2151380"/>
            <a:ext cx="3006913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OpenMP spreads iterations across threads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995682" y="1517016"/>
            <a:ext cx="3380343" cy="1469390"/>
          </a:xfrm>
          <a:prstGeom prst="roundRect">
            <a:avLst>
              <a:gd name="adj" fmla="val 6698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6187" y="1747520"/>
            <a:ext cx="3006913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Configurable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6187" y="2151380"/>
            <a:ext cx="3006913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 count is a command-line argument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5975" y="3195955"/>
            <a:ext cx="5099050" cy="2642870"/>
          </a:xfrm>
          <a:prstGeom prst="roundRect">
            <a:avLst>
              <a:gd name="adj" fmla="val 2763"/>
            </a:avLst>
          </a:prstGeom>
          <a:solidFill>
            <a:srgbClr val="E9EFF9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1080" y="3970020"/>
            <a:ext cx="482950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Sequential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1080" y="4277361"/>
            <a:ext cx="48295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5A6A8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(i = 0; i &lt; N; i++)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21080" y="4709161"/>
            <a:ext cx="48295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5A6A8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C[i] = A[i] * B[i];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24575" y="3195955"/>
            <a:ext cx="5251450" cy="2642870"/>
          </a:xfrm>
          <a:prstGeom prst="roundRect">
            <a:avLst>
              <a:gd name="adj" fmla="val 2763"/>
            </a:avLst>
          </a:prstGeom>
          <a:solidFill>
            <a:srgbClr val="E9EFF9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9680" y="3754120"/>
            <a:ext cx="498647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(OpenMP)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29680" y="4061461"/>
            <a:ext cx="498647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B3B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#pragma omp parallel for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29680" y="4493261"/>
            <a:ext cx="498647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B3B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(i = 0; i &lt; N; i++)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29680" y="4925061"/>
            <a:ext cx="498647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B3B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C[i] = A[i] * B[i];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12800" y="6220461"/>
            <a:ext cx="94837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Takeaway: one pragma turns the sequential loop into a parallel loop.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66400" y="6220461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4/12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Parallel Implementation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9150" y="1520189"/>
            <a:ext cx="2208213" cy="982504"/>
          </a:xfrm>
          <a:prstGeom prst="roundRect">
            <a:avLst>
              <a:gd name="adj" fmla="val 9695"/>
            </a:avLst>
          </a:prstGeom>
          <a:solidFill>
            <a:srgbClr val="E3EBFB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77512" tIns="153712" rIns="77512" bIns="153712" rtlCol="0" anchor="ctr">
            <a:normAutofit/>
          </a:bodyPr>
          <a:lstStyle/>
          <a:p>
            <a:pPr algn="ctr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vectors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160713" y="1762522"/>
            <a:ext cx="36823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00926" y="1520189"/>
            <a:ext cx="2208292" cy="982504"/>
          </a:xfrm>
          <a:prstGeom prst="roundRect">
            <a:avLst>
              <a:gd name="adj" fmla="val 9695"/>
            </a:avLst>
          </a:prstGeom>
          <a:solidFill>
            <a:srgbClr val="E3EBFB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47550" tIns="112834" rIns="47550" bIns="112834" rtlCol="0" anchor="ctr">
            <a:normAutofit/>
          </a:bodyPr>
          <a:lstStyle/>
          <a:p>
            <a:pPr algn="ctr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OpenMP parallel loop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942568" y="1762522"/>
            <a:ext cx="36823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382782" y="1520189"/>
            <a:ext cx="2208213" cy="982504"/>
          </a:xfrm>
          <a:prstGeom prst="roundRect">
            <a:avLst>
              <a:gd name="adj" fmla="val 9695"/>
            </a:avLst>
          </a:prstGeom>
          <a:solidFill>
            <a:srgbClr val="E3EBFB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77512" tIns="153712" rIns="77512" bIns="153712" rtlCol="0" anchor="ctr">
            <a:normAutofit/>
          </a:bodyPr>
          <a:lstStyle/>
          <a:p>
            <a:pPr algn="ctr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threads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724344" y="1762522"/>
            <a:ext cx="36823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64558" y="1520189"/>
            <a:ext cx="2208292" cy="982504"/>
          </a:xfrm>
          <a:prstGeom prst="roundRect">
            <a:avLst>
              <a:gd name="adj" fmla="val 9695"/>
            </a:avLst>
          </a:prstGeom>
          <a:solidFill>
            <a:srgbClr val="E3EBFB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77512" tIns="153712" rIns="77512" bIns="153712" rtlCol="0" anchor="ctr">
            <a:normAutofit/>
          </a:bodyPr>
          <a:lstStyle/>
          <a:p>
            <a:pPr algn="ctr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vector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15975" y="2715419"/>
            <a:ext cx="702310" cy="448310"/>
          </a:xfrm>
          <a:prstGeom prst="roundRect">
            <a:avLst>
              <a:gd name="adj" fmla="val 50000"/>
            </a:avLst>
          </a:prstGeom>
          <a:solidFill>
            <a:srgbClr val="E3EBFB"/>
          </a:solidFill>
          <a:ln w="6350">
            <a:solidFill>
              <a:srgbClr val="1D4ED8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4ED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C++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26235" y="2715419"/>
            <a:ext cx="1388110" cy="448310"/>
          </a:xfrm>
          <a:prstGeom prst="roundRect">
            <a:avLst>
              <a:gd name="adj" fmla="val 50000"/>
            </a:avLst>
          </a:prstGeom>
          <a:solidFill>
            <a:srgbClr val="E3EBFB"/>
          </a:solidFill>
          <a:ln w="6350">
            <a:solidFill>
              <a:srgbClr val="1D4ED8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4ED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GCC / G++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22295" y="2715419"/>
            <a:ext cx="1045210" cy="448310"/>
          </a:xfrm>
          <a:prstGeom prst="roundRect">
            <a:avLst>
              <a:gd name="adj" fmla="val 50000"/>
            </a:avLst>
          </a:prstGeom>
          <a:solidFill>
            <a:srgbClr val="E3EBFB"/>
          </a:solidFill>
          <a:ln w="6350">
            <a:solidFill>
              <a:srgbClr val="1D4ED8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4ED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OpenMP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75455" y="2715419"/>
            <a:ext cx="3102610" cy="448310"/>
          </a:xfrm>
          <a:prstGeom prst="roundRect">
            <a:avLst>
              <a:gd name="adj" fmla="val 50000"/>
            </a:avLst>
          </a:prstGeom>
          <a:solidFill>
            <a:srgbClr val="E3EBFB"/>
          </a:solidFill>
          <a:ln w="6350">
            <a:solidFill>
              <a:srgbClr val="1D4ED8"/>
            </a:solidFill>
            <a:prstDash val="solid"/>
          </a:ln>
        </p:spPr>
        <p:txBody>
          <a:bodyPr wrap="none" lIns="1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4ED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#pragma omp parallel for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5975" y="3373279"/>
            <a:ext cx="10560050" cy="2465546"/>
          </a:xfrm>
          <a:prstGeom prst="roundRect">
            <a:avLst>
              <a:gd name="adj" fmla="val 2962"/>
            </a:avLst>
          </a:prstGeom>
          <a:solidFill>
            <a:srgbClr val="E9EFF9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1080" y="3578383"/>
            <a:ext cx="10454335" cy="24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231" dirty="0">
                <a:solidFill>
                  <a:srgbClr val="445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with N and thread count</a:t>
            </a:r>
            <a:endParaRPr lang="en-US" sz="1231" dirty="0"/>
          </a:p>
        </p:txBody>
      </p:sp>
      <p:sp>
        <p:nvSpPr>
          <p:cNvPr id="16" name="Text 14"/>
          <p:cNvSpPr/>
          <p:nvPr/>
        </p:nvSpPr>
        <p:spPr>
          <a:xfrm>
            <a:off x="1021080" y="3871277"/>
            <a:ext cx="10454335" cy="408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19"/>
              </a:lnSpc>
              <a:buNone/>
            </a:pPr>
            <a:r>
              <a:rPr lang="en-US" sz="2156" dirty="0">
                <a:solidFill>
                  <a:srgbClr val="0B3B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./vector_openmp 1000000 1</a:t>
            </a:r>
            <a:endParaRPr lang="en-US" sz="2156" dirty="0"/>
          </a:p>
        </p:txBody>
      </p:sp>
      <p:sp>
        <p:nvSpPr>
          <p:cNvPr id="17" name="Text 15"/>
          <p:cNvSpPr/>
          <p:nvPr/>
        </p:nvSpPr>
        <p:spPr>
          <a:xfrm>
            <a:off x="1021080" y="4330939"/>
            <a:ext cx="10454335" cy="408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19"/>
              </a:lnSpc>
              <a:buNone/>
            </a:pPr>
            <a:r>
              <a:rPr lang="en-US" sz="2156" dirty="0">
                <a:solidFill>
                  <a:srgbClr val="0B3B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./vector_openmp 1000000 4</a:t>
            </a:r>
            <a:endParaRPr lang="en-US" sz="2156" dirty="0"/>
          </a:p>
        </p:txBody>
      </p:sp>
      <p:sp>
        <p:nvSpPr>
          <p:cNvPr id="18" name="Text 16"/>
          <p:cNvSpPr/>
          <p:nvPr/>
        </p:nvSpPr>
        <p:spPr>
          <a:xfrm>
            <a:off x="1021080" y="4790601"/>
            <a:ext cx="10454335" cy="408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19"/>
              </a:lnSpc>
              <a:buNone/>
            </a:pPr>
            <a:r>
              <a:rPr lang="en-US" sz="2156" dirty="0">
                <a:solidFill>
                  <a:srgbClr val="0B3B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./vector_openmp 1000000 8</a:t>
            </a:r>
            <a:endParaRPr lang="en-US" sz="2156" dirty="0"/>
          </a:p>
        </p:txBody>
      </p:sp>
      <p:sp>
        <p:nvSpPr>
          <p:cNvPr id="19" name="Text 17"/>
          <p:cNvSpPr/>
          <p:nvPr/>
        </p:nvSpPr>
        <p:spPr>
          <a:xfrm>
            <a:off x="1021080" y="5250259"/>
            <a:ext cx="10454335" cy="408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19"/>
              </a:lnSpc>
              <a:buNone/>
            </a:pPr>
            <a:r>
              <a:rPr lang="en-US" sz="2156" dirty="0">
                <a:solidFill>
                  <a:srgbClr val="0B3B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./vector_openmp 1000000 12</a:t>
            </a:r>
            <a:endParaRPr lang="en-US" sz="2156" dirty="0"/>
          </a:p>
        </p:txBody>
      </p:sp>
      <p:sp>
        <p:nvSpPr>
          <p:cNvPr id="20" name="Text 18"/>
          <p:cNvSpPr/>
          <p:nvPr/>
        </p:nvSpPr>
        <p:spPr>
          <a:xfrm>
            <a:off x="812800" y="6220461"/>
            <a:ext cx="94837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Takeaway: the same program runs with 1, 4, 8 or 12 threads from the command line.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66400" y="6220461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5/12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Experimental Setup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4"/>
            <a:ext cx="2650490" cy="3834130"/>
          </a:xfrm>
          <a:prstGeom prst="roundRect">
            <a:avLst>
              <a:gd name="adj" fmla="val 3713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747521"/>
            <a:ext cx="2255165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sizes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96264" y="2151382"/>
            <a:ext cx="2197761" cy="1488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4216" indent="-20421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100,000</a:t>
            </a:r>
            <a:endParaRPr lang="en-US" sz="1800" dirty="0"/>
          </a:p>
          <a:p>
            <a:pPr algn="l" marL="204216" indent="-20421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1,000,000</a:t>
            </a:r>
            <a:endParaRPr lang="en-US" sz="1800" dirty="0"/>
          </a:p>
          <a:p>
            <a:pPr algn="l" marL="204216" indent="-20421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5,000,000</a:t>
            </a:r>
            <a:endParaRPr lang="en-US" sz="1800" dirty="0"/>
          </a:p>
          <a:p>
            <a:pPr algn="l" marL="204216" indent="-20421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10,000,000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76015" y="1517014"/>
            <a:ext cx="2650490" cy="3834130"/>
          </a:xfrm>
          <a:prstGeom prst="roundRect">
            <a:avLst>
              <a:gd name="adj" fmla="val 3713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06520" y="1747521"/>
            <a:ext cx="2255165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 counts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956304" y="2151382"/>
            <a:ext cx="2197761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4216" indent="-20421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  <a:p>
            <a:pPr algn="l" marL="204216" indent="-20421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  <a:p>
            <a:pPr algn="l" marL="204216" indent="-20421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  <a:p>
            <a:pPr algn="l" marL="204216" indent="-20421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800" dirty="0"/>
          </a:p>
          <a:p>
            <a:pPr algn="l" marL="204216" indent="-20421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36055" y="1517014"/>
            <a:ext cx="4839970" cy="3834130"/>
          </a:xfrm>
          <a:prstGeom prst="roundRect">
            <a:avLst>
              <a:gd name="adj" fmla="val 2567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747521"/>
            <a:ext cx="4510329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&amp; tools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823456" y="2151382"/>
            <a:ext cx="4445813" cy="140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104" indent="-197104">
              <a:lnSpc>
                <a:spcPts val="2720"/>
              </a:lnSpc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13th Gen Intel Core i5-13420H</a:t>
            </a:r>
            <a:endParaRPr lang="en-US" sz="1700" dirty="0"/>
          </a:p>
          <a:p>
            <a:pPr algn="l" marL="197104" indent="-197104">
              <a:lnSpc>
                <a:spcPts val="2720"/>
              </a:lnSpc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logical CPUs</a:t>
            </a:r>
            <a:endParaRPr lang="en-US" sz="1700" dirty="0"/>
          </a:p>
          <a:p>
            <a:pPr algn="l" marL="197104" indent="-197104">
              <a:lnSpc>
                <a:spcPts val="2720"/>
              </a:lnSpc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Ubuntu / WSL, G++, OpenMP</a:t>
            </a:r>
            <a:endParaRPr lang="en-US" sz="1700" dirty="0"/>
          </a:p>
          <a:p>
            <a:pPr algn="l" marL="197104" indent="-197104">
              <a:lnSpc>
                <a:spcPts val="2720"/>
              </a:lnSpc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Python, Matplotlib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2800" y="5557521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45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configuration is executed multiple times; the average execution time is recorded.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20461"/>
            <a:ext cx="94837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Takeaway: 4 sizes × 5 thread counts = 20 benchmarked configurations.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66400" y="6220461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6/12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Metrics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4"/>
            <a:ext cx="3380264" cy="2962910"/>
          </a:xfrm>
          <a:prstGeom prst="roundRect">
            <a:avLst>
              <a:gd name="adj" fmla="val 3322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747521"/>
            <a:ext cx="300683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Time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46480" y="2151382"/>
            <a:ext cx="300683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complete the vector multiplication.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6480" y="2834639"/>
            <a:ext cx="300683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is better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05789" y="1517014"/>
            <a:ext cx="3380343" cy="2962910"/>
          </a:xfrm>
          <a:prstGeom prst="roundRect">
            <a:avLst>
              <a:gd name="adj" fmla="val 3322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6294" y="1747521"/>
            <a:ext cx="3006913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Speedup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36294" y="2151382"/>
            <a:ext cx="3006913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4530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Sequential Time / Parallel Time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95682" y="1517014"/>
            <a:ext cx="3380343" cy="2962910"/>
          </a:xfrm>
          <a:prstGeom prst="roundRect">
            <a:avLst>
              <a:gd name="adj" fmla="val 3322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6187" y="1747521"/>
            <a:ext cx="3006913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Efficiency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26187" y="2151382"/>
            <a:ext cx="3006913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4530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Speedup / Threads × 100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5975" y="4689475"/>
            <a:ext cx="10560050" cy="1149350"/>
          </a:xfrm>
          <a:prstGeom prst="roundRect">
            <a:avLst>
              <a:gd name="adj" fmla="val 8564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6480" y="4919982"/>
            <a:ext cx="1040201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46480" y="5323839"/>
            <a:ext cx="1040201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Sequential = 0.020 s Parallel = 0.010 s → Speedup = 2×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6220461"/>
            <a:ext cx="94837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Takeaway: speedup shows the gain; efficiency shows how well threads are used.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66400" y="6220461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7/12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Experimental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4"/>
            <a:ext cx="5175250" cy="3867706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6640" y="1757681"/>
          <a:ext cx="4704080" cy="3396536"/>
        </p:xfrm>
        <a:graphic>
          <a:graphicData uri="http://schemas.openxmlformats.org/drawingml/2006/table">
            <a:tbl>
              <a:tblPr/>
              <a:tblGrid>
                <a:gridCol w="940816"/>
                <a:gridCol w="940816"/>
                <a:gridCol w="940816"/>
                <a:gridCol w="940816"/>
                <a:gridCol w="940816"/>
              </a:tblGrid>
              <a:tr h="308769"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b="1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Vector Size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b="1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Threads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b="1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 (s)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b="1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Speedup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b="1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Efficiency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308769"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100,000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0.000011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1.37105×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B4530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137.05%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769"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100,000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0.000068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2.75416×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B4530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122.81%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769"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100,000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0.000027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5.92244×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B4530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148.06%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769"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100,000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0.000031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5.24383×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65.55%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769"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100,000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0.000860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0.18804×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1.57%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769"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1,000,000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0.002643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0.81163×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81.16%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769"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1,000,000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0.002548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0.84208×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42.10%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769"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1,000,000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0.002571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0.83415×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20.85%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769"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1,000,000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0.002534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0.84658×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10.58%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848"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1,000,000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0.007561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0.28373×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2.36%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00775" y="1517014"/>
            <a:ext cx="5175250" cy="3867706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1440" y="1757681"/>
          <a:ext cx="4704080" cy="3396536"/>
        </p:xfrm>
        <a:graphic>
          <a:graphicData uri="http://schemas.openxmlformats.org/drawingml/2006/table">
            <a:tbl>
              <a:tblPr/>
              <a:tblGrid>
                <a:gridCol w="940816"/>
                <a:gridCol w="940816"/>
                <a:gridCol w="940816"/>
                <a:gridCol w="940816"/>
                <a:gridCol w="940816"/>
              </a:tblGrid>
              <a:tr h="308769"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b="1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Vector Size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b="1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Threads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b="1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 (s)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b="1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Speedup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b="1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Efficiency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308769"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5,000,000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0.010359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1.94860×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B4530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194.86%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769"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5,000,000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0.012551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1.60830×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80.41%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769"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5,000,000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0.010829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1.86398×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46.60%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769"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5,000,000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0.011644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1.73352×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21.67%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769"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5,000,000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0.008441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2.39125×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19.93%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769"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10,000,000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0.029905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0.95865×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95.87%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769"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10,000,000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0.028320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1.01230×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50.62%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769"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10,000,000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0.022255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1.28817×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32.20%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769"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10,000,000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0.017534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1.63498×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20.44%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848"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10,000,000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0.022668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1.26471×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9"/>
                        </a:lnSpc>
                        <a:buNone/>
                      </a:pPr>
                      <a:r>
                        <a:rPr lang="en-US" sz="1185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10.54%</a:t>
                      </a:r>
                      <a:endParaRPr lang="en-US" sz="118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12800" y="5591094"/>
            <a:ext cx="11379200" cy="27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3"/>
              </a:lnSpc>
              <a:buNone/>
            </a:pPr>
            <a:r>
              <a:rPr lang="en-US" sz="1024" dirty="0">
                <a:solidFill>
                  <a:srgbClr val="445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Efficiency above 100% (amber) is reported exactly as measured. Extremely small workloads, timing noise and measurement overhead can produce such anomalous values.</a:t>
            </a:r>
            <a:endParaRPr lang="en-US" sz="1024" dirty="0"/>
          </a:p>
        </p:txBody>
      </p:sp>
      <p:sp>
        <p:nvSpPr>
          <p:cNvPr id="8" name="Text 4"/>
          <p:cNvSpPr/>
          <p:nvPr/>
        </p:nvSpPr>
        <p:spPr>
          <a:xfrm>
            <a:off x="812800" y="6220464"/>
            <a:ext cx="94837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Takeaway: results are measured values; anomalies come from tiny workloads and timing noise.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566400" y="6220464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8/12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Graphs</a:t>
            </a:r>
            <a:endParaRPr lang="en-US" sz="3200" dirty="0"/>
          </a:p>
        </p:txBody>
      </p:sp>
      <p:pic>
        <p:nvPicPr>
          <p:cNvPr id="3" name="Image 0" descr="Execution Time vs Vector Siz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513842"/>
            <a:ext cx="5181600" cy="2070100"/>
          </a:xfrm>
          <a:prstGeom prst="rect">
            <a:avLst/>
          </a:prstGeom>
        </p:spPr>
      </p:pic>
      <p:pic>
        <p:nvPicPr>
          <p:cNvPr id="4" name="Image 1" descr="Speedup vs Number of Thread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94400" y="1513842"/>
            <a:ext cx="5181600" cy="2070100"/>
          </a:xfrm>
          <a:prstGeom prst="rect">
            <a:avLst/>
          </a:prstGeom>
        </p:spPr>
      </p:pic>
      <p:pic>
        <p:nvPicPr>
          <p:cNvPr id="5" name="Image 2" descr="Efficiency vs Number of Thread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3583942"/>
            <a:ext cx="5181600" cy="2070100"/>
          </a:xfrm>
          <a:prstGeom prst="rect">
            <a:avLst/>
          </a:prstGeom>
        </p:spPr>
      </p:pic>
      <p:pic>
        <p:nvPicPr>
          <p:cNvPr id="6" name="Image 3" descr="Execution Time vs Number of Threads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94400" y="3583942"/>
            <a:ext cx="5181600" cy="20701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12800" y="6220464"/>
            <a:ext cx="94837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Takeaway: plotted only from the measured benchmark data above.</a:t>
            </a:r>
            <a:endParaRPr lang="en-US" sz="1300" dirty="0"/>
          </a:p>
        </p:txBody>
      </p:sp>
      <p:sp>
        <p:nvSpPr>
          <p:cNvPr id="8" name="Text 2"/>
          <p:cNvSpPr/>
          <p:nvPr/>
        </p:nvSpPr>
        <p:spPr>
          <a:xfrm>
            <a:off x="10566400" y="6220464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9/12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7"/>
            <a:ext cx="5175250" cy="2208530"/>
          </a:xfrm>
          <a:prstGeom prst="roundRect">
            <a:avLst>
              <a:gd name="adj" fmla="val 4457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747521"/>
            <a:ext cx="4855667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size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23950" y="2151379"/>
            <a:ext cx="4770577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6530" indent="-1765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workloads: little computation</a:t>
            </a:r>
            <a:endParaRPr lang="en-US" sz="1500" dirty="0"/>
          </a:p>
          <a:p>
            <a:pPr algn="l" marL="176530" indent="-1765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Overhead dominates (100,000 @ 12 thr: 0.19×)</a:t>
            </a:r>
            <a:endParaRPr lang="en-US" sz="1500" dirty="0"/>
          </a:p>
          <a:p>
            <a:pPr algn="l" marL="176530" indent="-1765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Larger vectors give threads more work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1517017"/>
            <a:ext cx="5175250" cy="2208530"/>
          </a:xfrm>
          <a:prstGeom prst="roundRect">
            <a:avLst>
              <a:gd name="adj" fmla="val 4457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31280" y="1747521"/>
            <a:ext cx="4855667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 count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08750" y="2151379"/>
            <a:ext cx="4770577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6530" indent="-1765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threads ≠ automatically faster</a:t>
            </a:r>
            <a:endParaRPr lang="en-US" sz="1500" dirty="0"/>
          </a:p>
          <a:p>
            <a:pPr algn="l" marL="176530" indent="-1765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5M: best at 12 threads (2.39×)</a:t>
            </a:r>
            <a:endParaRPr lang="en-US" sz="1500" dirty="0"/>
          </a:p>
          <a:p>
            <a:pPr algn="l" marL="176530" indent="-1765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10M: best at 8 threads (1.63×)</a:t>
            </a:r>
            <a:endParaRPr lang="en-US" sz="1500" dirty="0"/>
          </a:p>
          <a:p>
            <a:pPr algn="l" marL="176530" indent="-1765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1M: about 0.84× at 1–8 threads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5975" y="3935096"/>
            <a:ext cx="5175250" cy="1903730"/>
          </a:xfrm>
          <a:prstGeom prst="roundRect">
            <a:avLst>
              <a:gd name="adj" fmla="val 5170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6480" y="4165600"/>
            <a:ext cx="4855667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overhead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23950" y="4569464"/>
            <a:ext cx="4770577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6530" indent="-1765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 management, work distribution</a:t>
            </a:r>
            <a:endParaRPr lang="en-US" sz="1500" dirty="0"/>
          </a:p>
          <a:p>
            <a:pPr algn="l" marL="176530" indent="-1765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Scheduling, synchronization</a:t>
            </a:r>
            <a:endParaRPr lang="en-US" sz="1500" dirty="0"/>
          </a:p>
          <a:p>
            <a:pPr algn="l" marL="176530" indent="-1765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access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00775" y="3935096"/>
            <a:ext cx="5175250" cy="1903730"/>
          </a:xfrm>
          <a:prstGeom prst="roundRect">
            <a:avLst>
              <a:gd name="adj" fmla="val 5170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1280" y="4165600"/>
            <a:ext cx="4855667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limits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08750" y="4569464"/>
            <a:ext cx="4770577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6530" indent="-1765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CPU architecture, cache behavior</a:t>
            </a:r>
            <a:endParaRPr lang="en-US" sz="1500" dirty="0"/>
          </a:p>
          <a:p>
            <a:pPr algn="l" marL="176530" indent="-1765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bandwidth</a:t>
            </a:r>
            <a:endParaRPr lang="en-US" sz="1500" dirty="0"/>
          </a:p>
          <a:p>
            <a:pPr algn="l" marL="176530" indent="-1765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scheduling, other running processes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20464"/>
            <a:ext cx="94837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Takeaway: speedup depends on workload size, not just on thread count.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66400" y="6220464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10/12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20464"/>
            <a:ext cx="94837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Takeaway: both implementations give identical, correct results.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566400" y="6220464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11/12</a:t>
            </a:r>
            <a:endParaRPr lang="en-US" sz="13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Correctness &amp; Final Demonstration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5975" y="1514475"/>
            <a:ext cx="5175250" cy="3785870"/>
          </a:xfrm>
          <a:prstGeom prst="roundRect">
            <a:avLst>
              <a:gd name="adj" fmla="val 2600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6480" y="1744979"/>
            <a:ext cx="4855667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</a:t>
            </a:r>
            <a:endParaRPr lang="en-US" sz="1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6640" y="2159002"/>
          <a:ext cx="4704080" cy="2529840"/>
        </p:xfrm>
        <a:graphic>
          <a:graphicData uri="http://schemas.openxmlformats.org/drawingml/2006/table">
            <a:tbl>
              <a:tblPr/>
              <a:tblGrid>
                <a:gridCol w="2352040"/>
                <a:gridCol w="2352040"/>
              </a:tblGrid>
              <a:tr h="4216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Input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Expected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A[0]=1, B[0]=2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C[0] = 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A[1]=2, B[1]=3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C[1] = 6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A[2]=3, B[2]=4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C[2] = 12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A[3]=4, B[3]=5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C[3] = 20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A[4]=5, B[4]=6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C[4] = 30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46480" y="4803142"/>
            <a:ext cx="485566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Sequential and OpenMP produce the same values.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00775" y="1514475"/>
            <a:ext cx="5175250" cy="3785870"/>
          </a:xfrm>
          <a:prstGeom prst="roundRect">
            <a:avLst>
              <a:gd name="adj" fmla="val 2600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31280" y="1744979"/>
            <a:ext cx="4855667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demonstration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429296" y="3126742"/>
            <a:ext cx="4850032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5984" indent="-255984">
              <a:lnSpc>
                <a:spcPts val="2550"/>
              </a:lnSpc>
              <a:buSzPct val="100000"/>
              <a:buFontTx/>
              <a:buAutoNum type="arabicPeriod" startAt="1"/>
            </a:pPr>
            <a:r>
              <a:rPr lang="en-US" sz="17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Compile sequential version</a:t>
            </a:r>
            <a:endParaRPr lang="en-US" sz="1700" dirty="0"/>
          </a:p>
          <a:p>
            <a:pPr algn="l" marL="255984" indent="-255984">
              <a:lnSpc>
                <a:spcPts val="2550"/>
              </a:lnSpc>
              <a:buSzPct val="100000"/>
              <a:buFontTx/>
              <a:buAutoNum type="arabicPeriod" startAt="1"/>
            </a:pPr>
            <a:r>
              <a:rPr lang="en-US" sz="17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Compile OpenMP version</a:t>
            </a:r>
            <a:endParaRPr lang="en-US" sz="1700" dirty="0"/>
          </a:p>
          <a:p>
            <a:pPr algn="l" marL="255984" indent="-255984">
              <a:lnSpc>
                <a:spcPts val="2550"/>
              </a:lnSpc>
              <a:buSzPct val="100000"/>
              <a:buFontTx/>
              <a:buAutoNum type="arabicPeriod" startAt="1"/>
            </a:pPr>
            <a:r>
              <a:rPr lang="en-US" sz="17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with different thread counts</a:t>
            </a:r>
            <a:endParaRPr lang="en-US" sz="1700" dirty="0"/>
          </a:p>
          <a:p>
            <a:pPr algn="l" marL="255984" indent="-255984">
              <a:lnSpc>
                <a:spcPts val="2550"/>
              </a:lnSpc>
              <a:buSzPct val="100000"/>
              <a:buFontTx/>
              <a:buAutoNum type="arabicPeriod" startAt="1"/>
            </a:pPr>
            <a:r>
              <a:rPr lang="en-US" sz="17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benchmark</a:t>
            </a:r>
            <a:endParaRPr lang="en-US" sz="1700" dirty="0"/>
          </a:p>
          <a:p>
            <a:pPr algn="l" marL="255984" indent="-255984">
              <a:lnSpc>
                <a:spcPts val="2550"/>
              </a:lnSpc>
              <a:buSzPct val="100000"/>
              <a:buFontTx/>
              <a:buAutoNum type="arabicPeriod" startAt="1"/>
            </a:pPr>
            <a:r>
              <a:rPr lang="en-US" sz="17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graphs</a:t>
            </a:r>
            <a:endParaRPr lang="en-US" sz="1700" dirty="0"/>
          </a:p>
          <a:p>
            <a:pPr algn="l" marL="255984" indent="-255984">
              <a:lnSpc>
                <a:spcPts val="2550"/>
              </a:lnSpc>
              <a:buSzPct val="100000"/>
              <a:buFontTx/>
              <a:buAutoNum type="arabicPeriod" startAt="1"/>
            </a:pPr>
            <a:r>
              <a:rPr lang="en-US" sz="17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performance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 &amp; Team Contribution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7"/>
            <a:ext cx="5408930" cy="4321810"/>
          </a:xfrm>
          <a:prstGeom prst="roundRect">
            <a:avLst>
              <a:gd name="adj" fmla="val 2277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747521"/>
            <a:ext cx="5096358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23950" y="2151379"/>
            <a:ext cx="5011268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6530" indent="-1765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sequential vector multiplication</a:t>
            </a:r>
            <a:endParaRPr lang="en-US" sz="1500" dirty="0"/>
          </a:p>
          <a:p>
            <a:pPr algn="l" marL="176530" indent="-1765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OpenMP parallel vector multiplication</a:t>
            </a:r>
            <a:endParaRPr lang="en-US" sz="1500" dirty="0"/>
          </a:p>
          <a:p>
            <a:pPr algn="l" marL="176530" indent="-1765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Evaluated multiple vector sizes and thread counts</a:t>
            </a:r>
            <a:endParaRPr lang="en-US" sz="1500" dirty="0"/>
          </a:p>
          <a:p>
            <a:pPr algn="l" marL="176530" indent="-1765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execution time, speedup and efficiency</a:t>
            </a:r>
            <a:endParaRPr lang="en-US" sz="1500" dirty="0"/>
          </a:p>
          <a:p>
            <a:pPr algn="l" marL="176530" indent="-1765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depends on workload size and available resources</a:t>
            </a:r>
            <a:endParaRPr lang="en-US" sz="1500" dirty="0"/>
          </a:p>
          <a:p>
            <a:pPr algn="l" marL="176530" indent="-1765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threads do not always give proportional speedup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34455" y="1517017"/>
            <a:ext cx="4941570" cy="865505"/>
          </a:xfrm>
          <a:prstGeom prst="roundRect">
            <a:avLst>
              <a:gd name="adj" fmla="val 11372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39560" y="1681801"/>
            <a:ext cx="466730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Shrikar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39560" y="1986601"/>
            <a:ext cx="46673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implementation and testing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34455" y="2592071"/>
            <a:ext cx="4941570" cy="865505"/>
          </a:xfrm>
          <a:prstGeom prst="roundRect">
            <a:avLst>
              <a:gd name="adj" fmla="val 11372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39560" y="2756855"/>
            <a:ext cx="466730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Shreya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39560" y="3061655"/>
            <a:ext cx="46673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Benchmarking and result collection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34455" y="3667125"/>
            <a:ext cx="4941570" cy="865505"/>
          </a:xfrm>
          <a:prstGeom prst="roundRect">
            <a:avLst>
              <a:gd name="adj" fmla="val 11372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39560" y="3831909"/>
            <a:ext cx="466730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Sai Shree Ram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39560" y="4136709"/>
            <a:ext cx="46673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analysis and graphs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34455" y="4742179"/>
            <a:ext cx="4941570" cy="1096645"/>
          </a:xfrm>
          <a:prstGeom prst="roundRect">
            <a:avLst>
              <a:gd name="adj" fmla="val 8975"/>
            </a:avLst>
          </a:prstGeom>
          <a:solidFill>
            <a:srgbClr val="FFFFFF"/>
          </a:solidFill>
          <a:ln w="6350">
            <a:solidFill>
              <a:srgbClr val="CFD9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39560" y="4906963"/>
            <a:ext cx="466730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Ankush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39560" y="5211763"/>
            <a:ext cx="466730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Sequential implementation, OpenMP integration, repository organization and documentation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6220464"/>
            <a:ext cx="94837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Takeaway: parallel speedup is workload-dependent, not guaranteed.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66400" y="6220464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12/12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allel Vector Multiplication using OpenMP">
  <a:themeElements>
    <a:clrScheme name="Parallel Vector Multiplication using OpenMP">
      <a:dk1>
        <a:srgbClr val="14213D"/>
      </a:dk1>
      <a:lt1>
        <a:srgbClr val="F4F7FC"/>
      </a:lt1>
      <a:dk2>
        <a:srgbClr val="4C576D"/>
      </a:dk2>
      <a:lt2>
        <a:srgbClr val="DEE2E9"/>
      </a:lt2>
      <a:accent1>
        <a:srgbClr val="1D4ED8"/>
      </a:accent1>
      <a:accent2>
        <a:srgbClr val="445574"/>
      </a:accent2>
      <a:accent3>
        <a:srgbClr val="B45309"/>
      </a:accent3>
      <a:accent4>
        <a:srgbClr val="0B3B8F"/>
      </a:accent4>
      <a:accent5>
        <a:srgbClr val="5A6A86"/>
      </a:accent5>
      <a:accent6>
        <a:srgbClr val="9AA0A6"/>
      </a:accent6>
      <a:hlink>
        <a:srgbClr val="0563C1"/>
      </a:hlink>
      <a:folHlink>
        <a:srgbClr val="954F72"/>
      </a:folHlink>
    </a:clrScheme>
    <a:fontScheme name="Parallel Vector Multiplication using OpenMP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Vector Multiplication using OpenMP</dc:title>
  <dc:subject/>
  <dc:creator/>
  <cp:lastModifiedBy/>
  <cp:revision>1</cp:revision>
  <dcterms:created xsi:type="dcterms:W3CDTF">2026-10-08T05:53:46Z</dcterms:created>
  <dcterms:modified xsi:type="dcterms:W3CDTF">2026-10-08T05:53:46Z</dcterms:modified>
</cp:coreProperties>
</file>